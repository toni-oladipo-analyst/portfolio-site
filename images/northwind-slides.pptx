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Total Revenue by Product Category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03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Seafood</c:v>
                  </c:pt>
                  <c:pt idx="1">
                    <c:v>Produce</c:v>
                  </c:pt>
                  <c:pt idx="2">
                    <c:v>Grains/Cereals</c:v>
                  </c:pt>
                  <c:pt idx="3">
                    <c:v>Meat/Poultry</c:v>
                  </c:pt>
                  <c:pt idx="4">
                    <c:v>Confections</c:v>
                  </c:pt>
                  <c:pt idx="5">
                    <c:v>Condiments</c:v>
                  </c:pt>
                  <c:pt idx="6">
                    <c:v>Dairy Products</c:v>
                  </c:pt>
                  <c:pt idx="7">
                    <c:v>Beverages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131261</c:v>
                </c:pt>
                <c:pt idx="1">
                  <c:v>99984</c:v>
                </c:pt>
                <c:pt idx="2">
                  <c:v>95744</c:v>
                </c:pt>
                <c:pt idx="3">
                  <c:v>163022</c:v>
                </c:pt>
                <c:pt idx="4">
                  <c:v>167357</c:v>
                </c:pt>
                <c:pt idx="5">
                  <c:v>106047</c:v>
                </c:pt>
                <c:pt idx="6">
                  <c:v>234507</c:v>
                </c:pt>
                <c:pt idx="7">
                  <c:v>267868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03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0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4B08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Annual Revenue Trend (2006-2008)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D7D31"/>
            </a:solidFill>
            <a:ln w="381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205780</c:v>
                </c:pt>
                <c:pt idx="1">
                  <c:v>617085</c:v>
                </c:pt>
                <c:pt idx="2">
                  <c:v>440623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030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4B08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Revenue Distribution by Shipping Company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Shipper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7D31"/>
              </a:solidFill>
              <a:effectLst/>
            </c:spPr>
          </c:dPt>
          <c:dPt>
            <c:idx val="1"/>
            <c:bubble3D val="0"/>
            <c:spPr>
              <a:solidFill>
                <a:srgbClr val="833C0C"/>
              </a:solidFill>
              <a:effectLst/>
            </c:spPr>
          </c:dPt>
          <c:dPt>
            <c:idx val="2"/>
            <c:bubble3D val="0"/>
            <c:spPr>
              <a:solidFill>
                <a:srgbClr val="ED7D3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030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030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030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Shipper ETYNR</c:v>
                </c:pt>
                <c:pt idx="1">
                  <c:v>Shipper ZHISN</c:v>
                </c:pt>
                <c:pt idx="2">
                  <c:v>Shipper GVSUA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533547</c:v>
                </c:pt>
                <c:pt idx="1">
                  <c:v>382965</c:v>
                </c:pt>
                <c:pt idx="2">
                  <c:v>346976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Order Count by Freight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Low Freight</c:v>
                  </c:pt>
                  <c:pt idx="1">
                    <c:v>High Freight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1530</c:v>
                </c:pt>
                <c:pt idx="1">
                  <c:v>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030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4B08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0584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 |  VLOOKUP  |  Pivot Tables  |  Dashboard  |  Slicers &amp; 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Oluwatoni Oladipo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toni@tonianalytics.com.ng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13716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$1.27M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8696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24231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0" y="34747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6968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45262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4572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696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1/14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Objective, tools, and 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tables, 2,155 transactions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(VLOOKUP)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Populating Order Detail from reference sheets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orders and #N/A handling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Fields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Freight Category, Employee Names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pivot tables with charts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Breakdown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category, country, employee, year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&amp; Freight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 revenue and freight patterns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926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slicers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from the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480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0372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business strategies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5257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0372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contact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Northwind Traders' sales data to identify revenue trends, evaluate employee and regional performance, assess shipping operations, and deliver actionable insights through an interactive Excel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E5D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743200"/>
            <a:ext cx="260604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VLOOKUP to merge 12 reference tables into a single analysis-ready Order Detail table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E5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743200"/>
            <a:ext cx="2606040" cy="54864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pivot tables covering revenue by category, year, employee, country, shipper, and freight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E5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743200"/>
            <a:ext cx="260604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for each pivot — bar, line, pie — with clear titles, labels, and legends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743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E5D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2743200"/>
            <a:ext cx="2606040" cy="5486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3 slicers (Category, Employee, Country) and 1 date timeline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4B08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Excel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5577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4B084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VLOOKUP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5577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4B084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9480" y="5577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4B084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Charts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5577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4B084"/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 &amp; Timeline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Northwind_Data1.xlsx  |  12 Sheets  |  2,155 Transactions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9494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Detail (Main)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2,155 rows — central transaction table with order items, quantities, prices, and discounts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Order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headers — dates, customer IDs, employee IDs, freight, ship details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names, categories, suppliers, unit prices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names, contacts, countries, cities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Names, titles, hire dates, territories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product categories — Beverages, Confections, etc.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shipping companies used for order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suppliers with company and contact details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sheets: Region, Territory, Employee Territory, Assessment Brief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(VLOOKUP)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Detail table had empty columns that needed to be populated from reference sheets using VLOOKUP. This merged all relevant data into one analysis-ready table.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Populated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Table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Lookup Key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→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ProductID → CategoryID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Company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CustomerID (via Sales Order)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EmployeeID (via Sales Order)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 Country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Order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Order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Shipper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Shipper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ShipperID (via Sales Order)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Order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Full Name format: Title + First + Last (e.g. "Mr. John Doe")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BE5D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Order IDs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IDs 10248 and 10249 (5 rows) exist in the Order Detail table but are completely absent from the Sales Order reference table, which starts at Order ID 10250.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VLOOKUP formulas referencing the Sales Order table return #N/A for these 5 rows. This affects Customer, Employee, Ship Country, Order Date, Shipper, and Freight fields.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Flagged as "Not Specified" in pivot tables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BE5D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Data — No Issues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Product IDs in the Order Detail table were found in the Product reference sheet. No mismatches or missing data.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Name, Category Name, and Unit Price were successfully populated for all 2,155 rows without any #N/A errors.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BE5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Fields Added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 × Quantity × (1 - Discount)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Category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Freight &gt; 100 → "High Freight", else "Low Freight"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Full 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of Courtesy + First Name + Last 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pivot tables were created to analyze different dimensions of the Northwind sales data: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2344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by Product Category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Clustered Bar Chart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Beverages leads at $267K, followed by Dairy Products at $234K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234440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64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Revenue Trend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6758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Line Chart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peaked in 2007 ($617K), dropped 29% in 2008 ($440K)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754880"/>
            <a:ext cx="73152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28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by Sales Representative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1389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Horizontal Bar Chart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Yael Peled tops all reps at $232K, 3x the lowest performer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828800"/>
            <a:ext cx="73152" cy="12344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by Country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212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Horizontal Bar Chart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4871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($245K) and Germany ($228K) account for 37% of total revenue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291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3291840"/>
            <a:ext cx="73152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364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Distribution by Shipper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6758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Pie / Donut Chart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 ETYNR handles 42% of revenue, the highest of 3 shippers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7548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BE5D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4754880"/>
            <a:ext cx="73152" cy="1234440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828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Count by Freight Category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51389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Column 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Freight dominates: 1,530 orders (71%) vs 620 High Freight (29%)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CATEGORY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FBE5D6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201168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Beverages dominates with $267K (21.2% of total revenue), making it the highest-grossing category.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Dairy Products follows at $234K (18.5%), while Confections rounds out the top 3 at $167K.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Grains/Cereals and Produce are the weakest categories, both under $100K — potential areas for promotional campaigns or product expansion.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3 categories generate 53% of all revenue.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REVENUE TREND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FBE5D6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201168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 was the peak year at $617K — a 200% increase from 2006's $205K.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saw a significant 29% decline to $440K, signaling a potential market downturn or loss of key accounts.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 shows a low starting point ($205K) which could represent a partial year of data or an early growth phase.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sharp rise and fall pattern warrants investigation into what drove the 2007 boom and 2008 contraction.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COUNTRY &amp; EMPLOYEE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Countries by Revenue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965960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$245.6K (19.4%)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2468880"/>
            <a:ext cx="3086100" cy="274320"/>
          </a:xfrm>
          <a:prstGeom prst="round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11" name="Text 9"/>
          <p:cNvSpPr/>
          <p:nvPr/>
        </p:nvSpPr>
        <p:spPr>
          <a:xfrm>
            <a:off x="51892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$228.4K (18.0%)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2971800"/>
            <a:ext cx="1728216" cy="274320"/>
          </a:xfrm>
          <a:prstGeom prst="round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14" name="Text 12"/>
          <p:cNvSpPr/>
          <p:nvPr/>
        </p:nvSpPr>
        <p:spPr>
          <a:xfrm>
            <a:off x="3831336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$128.0K (10.1%)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474720"/>
            <a:ext cx="1440180" cy="274320"/>
          </a:xfrm>
          <a:prstGeom prst="round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35433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$106.9K (8.4%)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977640"/>
            <a:ext cx="1069848" cy="274320"/>
          </a:xfrm>
          <a:prstGeom prst="round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20" name="Text 18"/>
          <p:cNvSpPr/>
          <p:nvPr/>
        </p:nvSpPr>
        <p:spPr>
          <a:xfrm>
            <a:off x="3172968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$80.9K (6.4%)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countries served  |  USA + Germany = 37.4% of total revenue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Sales Representatives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92024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Yael Peled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$232.9K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560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Judy Lew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$202.8K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32004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Sara Davis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8408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$192.1K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38404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Don Funk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40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$166.5K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448056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Maria Cameron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8408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$126.9K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Yael Peled generates 3x more revenue than the lowest performer (Mr. Sven Buck at $68K)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10/14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&amp; FREIGHT ANALYSIS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BE5D6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 ETYNR handles 42% of all revenue ($533K), making it the dominant shipping partner.  |  71% of orders are Low Freight (under $100), suggesting most shipments are lightweight or short-distance.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11/14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Excel dashboard combining all 6 pivot charts with slicers and a timeline for dynamic filtering.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BE5D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77440"/>
            <a:ext cx="260604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Bar, Line, Pie, Donut, Column — one for each pivot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BE5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377440"/>
            <a:ext cx="2606040" cy="54864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Slicers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Category, Employee, Country — filter all charts simultaneously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BE5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377440"/>
            <a:ext cx="260604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Timeline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Date timeline for filtering by months, quarters, or years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3774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BE5D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2377440"/>
            <a:ext cx="2606040" cy="5486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Connections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slicers and timeline connected to every pivot 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slicers work: selecting "Beverages" in the Category slicer instantly updates all 6 charts to show only Beverages data — revenue by country, employee performance, shipping, and trend all filter simultaneously. This allows management to explore any dimension of the business interactively.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12/14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8686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98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Concentration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and Germany alone account for 37% of total revenue. This geographic concentration creates vulnerability — losing key accounts in either country would significantly impact the business. Diversifying into underperforming markets like Scandinavia and Southern Europe could reduce this risk.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833C0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042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Revenue Decline Needs Investigation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dropped 29% from $617K (2007) to $440K (2008). This could signal customer churn, increased competition, or economic factors. A root cause analysis is needed to determine whether this is a one-time dip or a continuing trend that requires corrective action.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91840"/>
            <a:ext cx="73152" cy="86868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10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 Performance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Yael Peled ($232K) generates over 3x the revenue of Mr. Sven Buck ($68K). Studying top performers' strategies and applying them through training programs for lower performers could lift overall team revenue significantly.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73152" cy="8686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159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Optimization Opportunity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of orders fall under Low Freight ($100 or less), yet Shipper ETYNR handles 42% of revenue. Negotiating volume discounts with the dominant shipper or redistributing load across all 3 shippers could reduce shipping costs and improve delivery performance.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03520"/>
            <a:ext cx="73152" cy="86868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21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Categories Need Attention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Grains/Cereals ($95K) and Produce ($99K) contribute the least revenue. Consider promotional campaigns, bundling with stronger categories like Beverages, or reviewing pricing strategies to boost performance in these underperforming segments.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13/14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73152" cy="18288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of Northwind Traders' 2,155 transactions across 21 countries reveals a business generating $1.27M in total revenue with strong category leaders (Beverages, Dairy Products) and high-performing sales representatives. However, the 29% revenue decline from 2007 to 2008, geographic concentration in two markets, and significant performance gaps between employees present clear areas for strategic improvement.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46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9264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$1.27M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926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475488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48463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5394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Oluwatoni Oladipo  |  Data Analyst  |  toni@tonianalytics.com.ng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Sales Performance  |  Oluwatoni Oladipo  |  14/14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2026-08-04T21:33:19Z</dcterms:created>
  <dcterms:modified xsi:type="dcterms:W3CDTF">2026-08-04T21:33:19Z</dcterms:modified>
</cp:coreProperties>
</file>